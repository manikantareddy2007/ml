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2"/>
  </p:notesMasterIdLst>
  <p:handoutMasterIdLst>
    <p:handoutMasterId r:id="rId13"/>
  </p:handoutMasterIdLst>
  <p:sldIdLst>
    <p:sldId id="312" r:id="rId5"/>
    <p:sldId id="304" r:id="rId6"/>
    <p:sldId id="282" r:id="rId7"/>
    <p:sldId id="314" r:id="rId8"/>
    <p:sldId id="319" r:id="rId9"/>
    <p:sldId id="320" r:id="rId10"/>
    <p:sldId id="297" r:id="rId11"/>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5388" autoAdjust="0"/>
  </p:normalViewPr>
  <p:slideViewPr>
    <p:cSldViewPr snapToGrid="0" snapToObjects="1">
      <p:cViewPr varScale="1">
        <p:scale>
          <a:sx n="96" d="100"/>
          <a:sy n="96" d="100"/>
        </p:scale>
        <p:origin x="58" y="91"/>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30665" y="286247"/>
            <a:ext cx="6628524" cy="5659215"/>
          </a:xfrm>
        </p:spPr>
        <p:txBody>
          <a:bodyPr anchor="ctr"/>
          <a:lstStyle/>
          <a:p>
            <a:pPr algn="l"/>
            <a:r>
              <a:rPr lang="en-US" sz="2000" dirty="0"/>
              <a:t>Rare-Disease Case Identification Using DBSCAN-Based Anomaly Detection</a:t>
            </a:r>
            <a:br>
              <a:rPr lang="en-US" sz="2000" dirty="0"/>
            </a:br>
            <a:br>
              <a:rPr lang="en-US" sz="2000" dirty="0"/>
            </a:br>
            <a:r>
              <a:rPr lang="en-US" sz="2000" dirty="0"/>
              <a:t>                  Dr. Dyuti </a:t>
            </a:r>
            <a:r>
              <a:rPr lang="en-US" sz="2000" dirty="0" err="1"/>
              <a:t>BAnerjee</a:t>
            </a:r>
            <a:br>
              <a:rPr lang="en-US" sz="2000"/>
            </a:br>
            <a:r>
              <a:rPr lang="en-US" sz="2000"/>
              <a:t>            </a:t>
            </a:r>
            <a:r>
              <a:rPr lang="en-US" sz="2000" dirty="0"/>
              <a:t>Assistant Professor Ai &amp; DS</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37769" y="-212939"/>
            <a:ext cx="7084612" cy="1340276"/>
          </a:xfrm>
        </p:spPr>
        <p:txBody>
          <a:bodyPr/>
          <a:lstStyle/>
          <a:p>
            <a:r>
              <a:rPr lang="en-US" sz="2000" dirty="0"/>
              <a:t>abstract</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87464" y="1224502"/>
            <a:ext cx="7084612" cy="4571474"/>
          </a:xfrm>
        </p:spPr>
        <p:txBody>
          <a:bodyPr>
            <a:normAutofit fontScale="25000" lnSpcReduction="20000"/>
          </a:bodyPr>
          <a:lstStyle/>
          <a:p>
            <a:endParaRPr lang="en-IN" b="1" dirty="0"/>
          </a:p>
          <a:p>
            <a:pPr marL="342900" indent="-342900" algn="just">
              <a:buFont typeface="Arial" panose="020B0604020202020204" pitchFamily="34" charset="0"/>
              <a:buChar char="•"/>
            </a:pPr>
            <a:r>
              <a:rPr lang="en-IN" sz="6400" dirty="0">
                <a:latin typeface="Times New Roman" panose="02020603050405020304" pitchFamily="18" charset="0"/>
                <a:cs typeface="Times New Roman" panose="02020603050405020304" pitchFamily="18" charset="0"/>
              </a:rPr>
              <a:t>Rare diseases are difficult to identify because their symptoms often resemble common diseases, leading to delayed diagnosis. This project uses </a:t>
            </a:r>
            <a:r>
              <a:rPr lang="en-IN" sz="6400" b="1" dirty="0">
                <a:latin typeface="Times New Roman" panose="02020603050405020304" pitchFamily="18" charset="0"/>
                <a:cs typeface="Times New Roman" panose="02020603050405020304" pitchFamily="18" charset="0"/>
              </a:rPr>
              <a:t>DBSCAN (Density-Based Spatial Clustering of Applications with Noise)</a:t>
            </a:r>
            <a:r>
              <a:rPr lang="en-IN" sz="6400" dirty="0">
                <a:latin typeface="Times New Roman" panose="02020603050405020304" pitchFamily="18" charset="0"/>
                <a:cs typeface="Times New Roman" panose="02020603050405020304" pitchFamily="18" charset="0"/>
              </a:rPr>
              <a:t>, a machine learning technique, to detect unusual patient cases from healthcare data.</a:t>
            </a:r>
          </a:p>
          <a:p>
            <a:pPr marL="342900" indent="-342900" algn="just">
              <a:buFont typeface="Arial" panose="020B0604020202020204" pitchFamily="34" charset="0"/>
              <a:buChar char="•"/>
            </a:pPr>
            <a:r>
              <a:rPr lang="en-IN" sz="6400" dirty="0">
                <a:latin typeface="Times New Roman" panose="02020603050405020304" pitchFamily="18" charset="0"/>
                <a:cs typeface="Times New Roman" panose="02020603050405020304" pitchFamily="18" charset="0"/>
              </a:rPr>
              <a:t>The system </a:t>
            </a:r>
            <a:r>
              <a:rPr lang="en-IN" sz="6400" dirty="0" err="1">
                <a:latin typeface="Times New Roman" panose="02020603050405020304" pitchFamily="18" charset="0"/>
                <a:cs typeface="Times New Roman" panose="02020603050405020304" pitchFamily="18" charset="0"/>
              </a:rPr>
              <a:t>analyzes</a:t>
            </a:r>
            <a:r>
              <a:rPr lang="en-IN" sz="6400" dirty="0">
                <a:latin typeface="Times New Roman" panose="02020603050405020304" pitchFamily="18" charset="0"/>
                <a:cs typeface="Times New Roman" panose="02020603050405020304" pitchFamily="18" charset="0"/>
              </a:rPr>
              <a:t> patient information such as </a:t>
            </a:r>
            <a:r>
              <a:rPr lang="en-IN" sz="6400" b="1" dirty="0">
                <a:latin typeface="Times New Roman" panose="02020603050405020304" pitchFamily="18" charset="0"/>
                <a:cs typeface="Times New Roman" panose="02020603050405020304" pitchFamily="18" charset="0"/>
              </a:rPr>
              <a:t>age, symptoms, medical history, and test results</a:t>
            </a:r>
            <a:r>
              <a:rPr lang="en-IN" sz="6400" dirty="0">
                <a:latin typeface="Times New Roman" panose="02020603050405020304" pitchFamily="18" charset="0"/>
                <a:cs typeface="Times New Roman" panose="02020603050405020304" pitchFamily="18" charset="0"/>
              </a:rPr>
              <a:t>. After preprocessing the data, DBSCAN groups patients with similar health patterns into clusters and identifies records that do not fit any cluster as </a:t>
            </a:r>
            <a:r>
              <a:rPr lang="en-IN" sz="6400" b="1" dirty="0">
                <a:latin typeface="Times New Roman" panose="02020603050405020304" pitchFamily="18" charset="0"/>
                <a:cs typeface="Times New Roman" panose="02020603050405020304" pitchFamily="18" charset="0"/>
              </a:rPr>
              <a:t>anomalies</a:t>
            </a:r>
            <a:r>
              <a:rPr lang="en-IN" sz="6400" dirty="0">
                <a:latin typeface="Times New Roman" panose="02020603050405020304" pitchFamily="18" charset="0"/>
                <a:cs typeface="Times New Roman" panose="02020603050405020304" pitchFamily="18" charset="0"/>
              </a:rPr>
              <a:t>. These unusual cases can be flagged for further medical examination.</a:t>
            </a:r>
          </a:p>
          <a:p>
            <a:pPr marL="342900" indent="-342900" algn="just">
              <a:buFont typeface="Arial" panose="020B0604020202020204" pitchFamily="34" charset="0"/>
              <a:buChar char="•"/>
            </a:pPr>
            <a:r>
              <a:rPr lang="en-IN" sz="6400" dirty="0">
                <a:latin typeface="Times New Roman" panose="02020603050405020304" pitchFamily="18" charset="0"/>
                <a:cs typeface="Times New Roman" panose="02020603050405020304" pitchFamily="18" charset="0"/>
              </a:rPr>
              <a:t>The project is implemented using </a:t>
            </a:r>
            <a:r>
              <a:rPr lang="en-IN" sz="6400" b="1" dirty="0">
                <a:latin typeface="Times New Roman" panose="02020603050405020304" pitchFamily="18" charset="0"/>
                <a:cs typeface="Times New Roman" panose="02020603050405020304" pitchFamily="18" charset="0"/>
              </a:rPr>
              <a:t>Python, Pandas, NumPy, Scikit-learn, and Matplotlib</a:t>
            </a:r>
            <a:r>
              <a:rPr lang="en-IN" sz="6400" dirty="0">
                <a:latin typeface="Times New Roman" panose="02020603050405020304" pitchFamily="18" charset="0"/>
                <a:cs typeface="Times New Roman" panose="02020603050405020304" pitchFamily="18" charset="0"/>
              </a:rPr>
              <a:t>. The main objective is to assist healthcare professionals in identifying potential rare-disease cases earlier. The system is designed as a </a:t>
            </a:r>
            <a:r>
              <a:rPr lang="en-IN" sz="6400" b="1" dirty="0">
                <a:latin typeface="Times New Roman" panose="02020603050405020304" pitchFamily="18" charset="0"/>
                <a:cs typeface="Times New Roman" panose="02020603050405020304" pitchFamily="18" charset="0"/>
              </a:rPr>
              <a:t>decision-support tool</a:t>
            </a:r>
            <a:r>
              <a:rPr lang="en-IN" sz="6400" dirty="0">
                <a:latin typeface="Times New Roman" panose="02020603050405020304" pitchFamily="18" charset="0"/>
                <a:cs typeface="Times New Roman" panose="02020603050405020304" pitchFamily="18" charset="0"/>
              </a:rPr>
              <a:t>, not a replacement for medical diagnosis, and demonstrates how machine learning can improve the detection of unusual healthcare patterns.</a:t>
            </a:r>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2798861" y="-55659"/>
            <a:ext cx="8770290" cy="1327869"/>
          </a:xfrm>
        </p:spPr>
        <p:txBody>
          <a:bodyPr/>
          <a:lstStyle/>
          <a:p>
            <a:r>
              <a:rPr lang="en-US" sz="2000" dirty="0"/>
              <a:t>INTRODUCTION</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655736" y="1441546"/>
            <a:ext cx="8770290" cy="4359181"/>
          </a:xfrm>
        </p:spPr>
        <p:txBody>
          <a:bodyPr>
            <a:normAutofit/>
          </a:bodyPr>
          <a:lstStyle/>
          <a:p>
            <a:r>
              <a:rPr lang="en-IN" sz="1600" dirty="0">
                <a:latin typeface="Times New Roman" panose="02020603050405020304" pitchFamily="18" charset="0"/>
                <a:cs typeface="Times New Roman" panose="02020603050405020304" pitchFamily="18" charset="0"/>
              </a:rPr>
              <a:t>Rare diseases are challenging to diagnose because they occur infrequently and often exhibit symptoms similar to common diseases. Delayed diagnosis may result in ineffective treatment and increased healthcare costs. Machine learning provides advanced techniques for </a:t>
            </a:r>
            <a:r>
              <a:rPr lang="en-IN" sz="1600" dirty="0" err="1">
                <a:latin typeface="Times New Roman" panose="02020603050405020304" pitchFamily="18" charset="0"/>
                <a:cs typeface="Times New Roman" panose="02020603050405020304" pitchFamily="18" charset="0"/>
              </a:rPr>
              <a:t>analyzing</a:t>
            </a:r>
            <a:r>
              <a:rPr lang="en-IN" sz="1600" dirty="0">
                <a:latin typeface="Times New Roman" panose="02020603050405020304" pitchFamily="18" charset="0"/>
                <a:cs typeface="Times New Roman" panose="02020603050405020304" pitchFamily="18" charset="0"/>
              </a:rPr>
              <a:t> large healthcare datasets and identifying hidden patterns.</a:t>
            </a:r>
          </a:p>
          <a:p>
            <a:r>
              <a:rPr lang="en-IN" sz="1600" dirty="0">
                <a:latin typeface="Times New Roman" panose="02020603050405020304" pitchFamily="18" charset="0"/>
                <a:cs typeface="Times New Roman" panose="02020603050405020304" pitchFamily="18" charset="0"/>
              </a:rPr>
              <a:t>DBSCAN is a density-based clustering algorithm capable of detecting anomalies without requiring </a:t>
            </a:r>
            <a:r>
              <a:rPr lang="en-IN" sz="1600" dirty="0" err="1">
                <a:latin typeface="Times New Roman" panose="02020603050405020304" pitchFamily="18" charset="0"/>
                <a:cs typeface="Times New Roman" panose="02020603050405020304" pitchFamily="18" charset="0"/>
              </a:rPr>
              <a:t>labeled</a:t>
            </a:r>
            <a:r>
              <a:rPr lang="en-IN" sz="1600" dirty="0">
                <a:latin typeface="Times New Roman" panose="02020603050405020304" pitchFamily="18" charset="0"/>
                <a:cs typeface="Times New Roman" panose="02020603050405020304" pitchFamily="18" charset="0"/>
              </a:rPr>
              <a:t> data. It groups similar patient records into clusters while identifying isolated data points as outliers. These outliers may represent patients with rare diseases.</a:t>
            </a:r>
          </a:p>
          <a:p>
            <a:r>
              <a:rPr lang="en-IN" sz="1600" dirty="0">
                <a:latin typeface="Times New Roman" panose="02020603050405020304" pitchFamily="18" charset="0"/>
                <a:cs typeface="Times New Roman" panose="02020603050405020304" pitchFamily="18" charset="0"/>
              </a:rPr>
              <a:t>This project develops an anomaly detection system using DBSCAN to identify potential rare-disease cases from patient healthcare data. The system aims to assist healthcare professionals by providing early alerts for uncommon medical conditions, improving diagnostic accuracy, and supporting timely treatment decisions.</a:t>
            </a:r>
          </a:p>
          <a:p>
            <a:pPr marL="0" indent="0">
              <a:buNone/>
            </a:pPr>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3586941" y="862110"/>
            <a:ext cx="7456628" cy="988831"/>
          </a:xfrm>
        </p:spPr>
        <p:txBody>
          <a:bodyPr/>
          <a:lstStyle/>
          <a:p>
            <a:pPr lvl="0"/>
            <a:r>
              <a:rPr lang="en-US" sz="2000" dirty="0"/>
              <a:t>SOFTWARE REQUIREMENTS:</a:t>
            </a:r>
            <a:br>
              <a:rPr lang="en-IN" sz="1400" dirty="0"/>
            </a:br>
            <a:r>
              <a:rPr lang="en-US" sz="1400" dirty="0"/>
              <a:t> </a:t>
            </a:r>
            <a:br>
              <a:rPr lang="en-IN" sz="1400" dirty="0"/>
            </a:br>
            <a:endParaRPr lang="en-US" sz="1200"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4</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3641697" y="1520462"/>
            <a:ext cx="7766730" cy="4521521"/>
          </a:xfrm>
        </p:spPr>
        <p:txBody>
          <a:bodyPr>
            <a:normAutofit/>
          </a:bodyPr>
          <a:lstStyle/>
          <a:p>
            <a:pPr lvl="0"/>
            <a:r>
              <a:rPr lang="en-IN" sz="1600" dirty="0">
                <a:latin typeface="Times New Roman" panose="02020603050405020304" pitchFamily="18" charset="0"/>
                <a:cs typeface="Times New Roman" panose="02020603050405020304" pitchFamily="18" charset="0"/>
              </a:rPr>
              <a:t>1.  Operating System: Windows 10/11 or Ubuntu Linux </a:t>
            </a:r>
            <a:endParaRPr lang="en-IN" sz="1600" b="1"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2.  Programming Language: Python 3.10 or above </a:t>
            </a:r>
            <a:endParaRPr lang="en-IN" sz="1600" b="1"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3.  Development Environment: Jupyter Notebook / Visual Studio Code </a:t>
            </a:r>
            <a:endParaRPr lang="en-IN" sz="1600" b="1"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4.  Libraries: </a:t>
            </a:r>
            <a:endParaRPr lang="en-IN" sz="1600" b="1" dirty="0">
              <a:latin typeface="Times New Roman" panose="02020603050405020304" pitchFamily="18" charset="0"/>
              <a:cs typeface="Times New Roman" panose="02020603050405020304" pitchFamily="18" charset="0"/>
            </a:endParaRPr>
          </a:p>
          <a:p>
            <a:pPr marL="0" lvl="1" indent="0">
              <a:buNone/>
            </a:pPr>
            <a:r>
              <a:rPr lang="en-IN" sz="1600" dirty="0">
                <a:latin typeface="Times New Roman" panose="02020603050405020304" pitchFamily="18" charset="0"/>
                <a:cs typeface="Times New Roman" panose="02020603050405020304" pitchFamily="18" charset="0"/>
              </a:rPr>
              <a:t>   a. Pandas </a:t>
            </a:r>
            <a:endParaRPr lang="en-IN" sz="1600" b="1" dirty="0">
              <a:latin typeface="Times New Roman" panose="02020603050405020304" pitchFamily="18" charset="0"/>
              <a:cs typeface="Times New Roman" panose="02020603050405020304" pitchFamily="18" charset="0"/>
            </a:endParaRPr>
          </a:p>
          <a:p>
            <a:pPr marL="0" lvl="1" indent="0">
              <a:buNone/>
            </a:pPr>
            <a:r>
              <a:rPr lang="en-IN" sz="1600" dirty="0">
                <a:latin typeface="Times New Roman" panose="02020603050405020304" pitchFamily="18" charset="0"/>
                <a:cs typeface="Times New Roman" panose="02020603050405020304" pitchFamily="18" charset="0"/>
              </a:rPr>
              <a:t>   b. NumPy </a:t>
            </a:r>
            <a:endParaRPr lang="en-IN" sz="1600" b="1" dirty="0">
              <a:latin typeface="Times New Roman" panose="02020603050405020304" pitchFamily="18" charset="0"/>
              <a:cs typeface="Times New Roman" panose="02020603050405020304" pitchFamily="18" charset="0"/>
            </a:endParaRPr>
          </a:p>
          <a:p>
            <a:pPr marL="0" lvl="1" indent="0">
              <a:buNone/>
            </a:pPr>
            <a:r>
              <a:rPr lang="en-IN" sz="1600" dirty="0">
                <a:latin typeface="Times New Roman" panose="02020603050405020304" pitchFamily="18" charset="0"/>
                <a:cs typeface="Times New Roman" panose="02020603050405020304" pitchFamily="18" charset="0"/>
              </a:rPr>
              <a:t>   c. Scikit-learn </a:t>
            </a:r>
            <a:endParaRPr lang="en-IN" sz="1600" b="1" dirty="0">
              <a:latin typeface="Times New Roman" panose="02020603050405020304" pitchFamily="18" charset="0"/>
              <a:cs typeface="Times New Roman" panose="02020603050405020304" pitchFamily="18" charset="0"/>
            </a:endParaRPr>
          </a:p>
          <a:p>
            <a:pPr marL="0" lvl="1" indent="0">
              <a:buNone/>
            </a:pPr>
            <a:r>
              <a:rPr lang="en-IN" sz="1600" dirty="0">
                <a:latin typeface="Times New Roman" panose="02020603050405020304" pitchFamily="18" charset="0"/>
                <a:cs typeface="Times New Roman" panose="02020603050405020304" pitchFamily="18" charset="0"/>
              </a:rPr>
              <a:t>   d. Matplotlib </a:t>
            </a:r>
            <a:endParaRPr lang="en-IN" sz="1600" b="1"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5.  Dataset: Rare Disease Healthcare Dataset (CSV) </a:t>
            </a:r>
            <a:endParaRPr lang="en-IN" sz="1600" b="1" dirty="0">
              <a:latin typeface="Times New Roman" panose="02020603050405020304" pitchFamily="18" charset="0"/>
              <a:cs typeface="Times New Roman" panose="02020603050405020304" pitchFamily="18" charset="0"/>
            </a:endParaRPr>
          </a:p>
          <a:p>
            <a:pPr lvl="0"/>
            <a:r>
              <a:rPr lang="en-IN" sz="1600" dirty="0">
                <a:latin typeface="Times New Roman" panose="02020603050405020304" pitchFamily="18" charset="0"/>
                <a:cs typeface="Times New Roman" panose="02020603050405020304" pitchFamily="18" charset="0"/>
              </a:rPr>
              <a:t>6.  Version Control: Git (Optional)</a:t>
            </a:r>
            <a:endParaRPr lang="en-IN" sz="1600"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31718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415332" y="395022"/>
            <a:ext cx="9784080" cy="853507"/>
          </a:xfrm>
        </p:spPr>
        <p:txBody>
          <a:bodyPr/>
          <a:lstStyle/>
          <a:p>
            <a:pPr lvl="0"/>
            <a:r>
              <a:rPr lang="en-IN" sz="2000" dirty="0"/>
              <a:t>HARDWARE REQUIREMENTS</a:t>
            </a:r>
            <a:endParaRPr lang="en-US" sz="2000" dirty="0"/>
          </a:p>
        </p:txBody>
      </p:sp>
      <p:sp>
        <p:nvSpPr>
          <p:cNvPr id="4" name="Text Placeholder 3">
            <a:extLst>
              <a:ext uri="{FF2B5EF4-FFF2-40B4-BE49-F238E27FC236}">
                <a16:creationId xmlns:a16="http://schemas.microsoft.com/office/drawing/2014/main" id="{97DCC342-9FD1-7055-EAAC-008DC851B13F}"/>
              </a:ext>
            </a:extLst>
          </p:cNvPr>
          <p:cNvSpPr>
            <a:spLocks noGrp="1"/>
          </p:cNvSpPr>
          <p:nvPr>
            <p:ph type="body" sz="quarter" idx="13"/>
          </p:nvPr>
        </p:nvSpPr>
        <p:spPr>
          <a:xfrm>
            <a:off x="1492776" y="1391478"/>
            <a:ext cx="3110449" cy="4374401"/>
          </a:xfrm>
        </p:spPr>
        <p:txBody>
          <a:bodyPr/>
          <a:lstStyle/>
          <a:p>
            <a:pPr marL="228600" lvl="0" indent="-228600">
              <a:buFont typeface="+mj-lt"/>
              <a:buAutoNum type="arabicPeriod"/>
            </a:pPr>
            <a:r>
              <a:rPr lang="en-IN" sz="1600" b="1" dirty="0">
                <a:latin typeface="Times New Roman" panose="02020603050405020304" pitchFamily="18" charset="0"/>
                <a:cs typeface="Times New Roman" panose="02020603050405020304" pitchFamily="18" charset="0"/>
              </a:rPr>
              <a:t>Processor:</a:t>
            </a:r>
            <a:r>
              <a:rPr lang="en-IN" sz="1600" dirty="0">
                <a:latin typeface="Times New Roman" panose="02020603050405020304" pitchFamily="18" charset="0"/>
                <a:cs typeface="Times New Roman" panose="02020603050405020304" pitchFamily="18" charset="0"/>
              </a:rPr>
              <a:t> Intel Core i3 or equivalent and above </a:t>
            </a:r>
          </a:p>
          <a:p>
            <a:pPr marL="228600" lvl="0" indent="-228600">
              <a:buFont typeface="+mj-lt"/>
              <a:buAutoNum type="arabicPeriod"/>
            </a:pPr>
            <a:r>
              <a:rPr lang="en-IN" sz="1600" b="1" dirty="0">
                <a:latin typeface="Times New Roman" panose="02020603050405020304" pitchFamily="18" charset="0"/>
                <a:cs typeface="Times New Roman" panose="02020603050405020304" pitchFamily="18" charset="0"/>
              </a:rPr>
              <a:t>RAM:</a:t>
            </a:r>
            <a:r>
              <a:rPr lang="en-IN" sz="1600" dirty="0">
                <a:latin typeface="Times New Roman" panose="02020603050405020304" pitchFamily="18" charset="0"/>
                <a:cs typeface="Times New Roman" panose="02020603050405020304" pitchFamily="18" charset="0"/>
              </a:rPr>
              <a:t> Minimum 4 GB, recommended 8 GB </a:t>
            </a:r>
          </a:p>
          <a:p>
            <a:pPr marL="228600" lvl="0" indent="-228600">
              <a:buFont typeface="+mj-lt"/>
              <a:buAutoNum type="arabicPeriod"/>
            </a:pPr>
            <a:r>
              <a:rPr lang="en-IN" sz="1600" b="1" dirty="0">
                <a:latin typeface="Times New Roman" panose="02020603050405020304" pitchFamily="18" charset="0"/>
                <a:cs typeface="Times New Roman" panose="02020603050405020304" pitchFamily="18" charset="0"/>
              </a:rPr>
              <a:t>Storage:</a:t>
            </a:r>
            <a:r>
              <a:rPr lang="en-IN" sz="1600" dirty="0">
                <a:latin typeface="Times New Roman" panose="02020603050405020304" pitchFamily="18" charset="0"/>
                <a:cs typeface="Times New Roman" panose="02020603050405020304" pitchFamily="18" charset="0"/>
              </a:rPr>
              <a:t> Minimum 10 GB free space </a:t>
            </a:r>
          </a:p>
          <a:p>
            <a:pPr marL="228600" lvl="0" indent="-228600">
              <a:buFont typeface="+mj-lt"/>
              <a:buAutoNum type="arabicPeriod"/>
            </a:pPr>
            <a:r>
              <a:rPr lang="en-IN" sz="1600" b="1" dirty="0">
                <a:latin typeface="Times New Roman" panose="02020603050405020304" pitchFamily="18" charset="0"/>
                <a:cs typeface="Times New Roman" panose="02020603050405020304" pitchFamily="18" charset="0"/>
              </a:rPr>
              <a:t>Display:</a:t>
            </a:r>
            <a:r>
              <a:rPr lang="en-IN" sz="1600" dirty="0">
                <a:latin typeface="Times New Roman" panose="02020603050405020304" pitchFamily="18" charset="0"/>
                <a:cs typeface="Times New Roman" panose="02020603050405020304" pitchFamily="18" charset="0"/>
              </a:rPr>
              <a:t> 1366 × 768 resolution or higher </a:t>
            </a:r>
          </a:p>
          <a:p>
            <a:pPr marL="228600" lvl="0" indent="-228600">
              <a:buFont typeface="+mj-lt"/>
              <a:buAutoNum type="arabicPeriod"/>
            </a:pPr>
            <a:r>
              <a:rPr lang="en-IN" sz="1600" b="1" dirty="0">
                <a:latin typeface="Times New Roman" panose="02020603050405020304" pitchFamily="18" charset="0"/>
                <a:cs typeface="Times New Roman" panose="02020603050405020304" pitchFamily="18" charset="0"/>
              </a:rPr>
              <a:t>Keyboard and Mouse:</a:t>
            </a:r>
            <a:r>
              <a:rPr lang="en-IN" sz="1600" dirty="0">
                <a:latin typeface="Times New Roman" panose="02020603050405020304" pitchFamily="18" charset="0"/>
                <a:cs typeface="Times New Roman" panose="02020603050405020304" pitchFamily="18" charset="0"/>
              </a:rPr>
              <a:t> Standard keyboard and mouse </a:t>
            </a:r>
          </a:p>
          <a:p>
            <a:pPr marL="228600" lvl="0" indent="-228600">
              <a:buFont typeface="+mj-lt"/>
              <a:buAutoNum type="arabicPeriod"/>
            </a:pPr>
            <a:r>
              <a:rPr lang="en-IN" sz="1600" b="1" dirty="0">
                <a:latin typeface="Times New Roman" panose="02020603050405020304" pitchFamily="18" charset="0"/>
                <a:cs typeface="Times New Roman" panose="02020603050405020304" pitchFamily="18" charset="0"/>
              </a:rPr>
              <a:t>Internet Connection:</a:t>
            </a:r>
            <a:r>
              <a:rPr lang="en-IN" sz="1600" dirty="0">
                <a:latin typeface="Times New Roman" panose="02020603050405020304" pitchFamily="18" charset="0"/>
                <a:cs typeface="Times New Roman" panose="02020603050405020304" pitchFamily="18" charset="0"/>
              </a:rPr>
              <a:t> Required for installing Python libraries and downloading datasets </a:t>
            </a:r>
          </a:p>
          <a:p>
            <a:pPr marL="228600" lvl="0" indent="-228600">
              <a:buFont typeface="+mj-lt"/>
              <a:buAutoNum type="arabicPeriod"/>
            </a:pPr>
            <a:r>
              <a:rPr lang="en-IN" sz="1600" b="1" dirty="0">
                <a:latin typeface="Times New Roman" panose="02020603050405020304" pitchFamily="18" charset="0"/>
                <a:cs typeface="Times New Roman" panose="02020603050405020304" pitchFamily="18" charset="0"/>
              </a:rPr>
              <a:t>System Architecture:</a:t>
            </a:r>
            <a:r>
              <a:rPr lang="en-IN" sz="1600" dirty="0">
                <a:latin typeface="Times New Roman" panose="02020603050405020304" pitchFamily="18" charset="0"/>
                <a:cs typeface="Times New Roman" panose="02020603050405020304" pitchFamily="18" charset="0"/>
              </a:rPr>
              <a:t> 64-bit processor and operating system</a:t>
            </a:r>
          </a:p>
          <a:p>
            <a:endParaRPr lang="en-US" dirty="0"/>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
        <p:nvSpPr>
          <p:cNvPr id="7" name="Content Placeholder 6">
            <a:extLst>
              <a:ext uri="{FF2B5EF4-FFF2-40B4-BE49-F238E27FC236}">
                <a16:creationId xmlns:a16="http://schemas.microsoft.com/office/drawing/2014/main" id="{834F56AF-B9AA-23AE-1FE7-893F0A340A2D}"/>
              </a:ext>
            </a:extLst>
          </p:cNvPr>
          <p:cNvSpPr>
            <a:spLocks noGrp="1"/>
          </p:cNvSpPr>
          <p:nvPr>
            <p:ph sz="half" idx="1"/>
          </p:nvPr>
        </p:nvSpPr>
        <p:spPr>
          <a:xfrm>
            <a:off x="9144000" y="5319423"/>
            <a:ext cx="2289047" cy="734185"/>
          </a:xfrm>
        </p:spPr>
        <p:txBody>
          <a:bodyPr>
            <a:normAutofit/>
          </a:bodyPr>
          <a:lstStyle/>
          <a:p>
            <a:pPr marL="0" indent="0">
              <a:buNone/>
            </a:pPr>
            <a:endParaRPr lang="en-IN" dirty="0"/>
          </a:p>
        </p:txBody>
      </p:sp>
    </p:spTree>
    <p:extLst>
      <p:ext uri="{BB962C8B-B14F-4D97-AF65-F5344CB8AC3E}">
        <p14:creationId xmlns:p14="http://schemas.microsoft.com/office/powerpoint/2010/main" val="3969996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81162-101C-CC71-75DE-73B4463A7CAB}"/>
              </a:ext>
            </a:extLst>
          </p:cNvPr>
          <p:cNvSpPr>
            <a:spLocks noGrp="1"/>
          </p:cNvSpPr>
          <p:nvPr>
            <p:ph type="title"/>
          </p:nvPr>
        </p:nvSpPr>
        <p:spPr>
          <a:xfrm>
            <a:off x="1550564" y="909240"/>
            <a:ext cx="9875463" cy="745055"/>
          </a:xfrm>
        </p:spPr>
        <p:txBody>
          <a:bodyPr/>
          <a:lstStyle/>
          <a:p>
            <a:r>
              <a:rPr lang="en-US" dirty="0"/>
              <a:t>DATASET</a:t>
            </a:r>
            <a:endParaRPr lang="en-IN" dirty="0"/>
          </a:p>
        </p:txBody>
      </p:sp>
      <p:sp>
        <p:nvSpPr>
          <p:cNvPr id="3" name="Content Placeholder 2">
            <a:extLst>
              <a:ext uri="{FF2B5EF4-FFF2-40B4-BE49-F238E27FC236}">
                <a16:creationId xmlns:a16="http://schemas.microsoft.com/office/drawing/2014/main" id="{6147EC4B-7D4D-3892-456E-17229A55103B}"/>
              </a:ext>
            </a:extLst>
          </p:cNvPr>
          <p:cNvSpPr>
            <a:spLocks noGrp="1"/>
          </p:cNvSpPr>
          <p:nvPr>
            <p:ph sz="half" idx="2"/>
          </p:nvPr>
        </p:nvSpPr>
        <p:spPr>
          <a:xfrm>
            <a:off x="1420691" y="1654295"/>
            <a:ext cx="9350618" cy="3816202"/>
          </a:xfrm>
        </p:spPr>
        <p:txBody>
          <a:bodyPr>
            <a:normAutofit fontScale="92500" lnSpcReduction="20000"/>
          </a:bodyPr>
          <a:lstStyle/>
          <a:p>
            <a:r>
              <a:rPr lang="en-US" sz="1600" dirty="0">
                <a:latin typeface="Times New Roman" panose="02020603050405020304" pitchFamily="18" charset="0"/>
                <a:cs typeface="Times New Roman" panose="02020603050405020304" pitchFamily="18" charset="0"/>
              </a:rPr>
              <a:t>The dataset used for this project is a healthcare dataset containing patient information and their health-related characteristics. It includes features such as *age, gender, symptoms, medical conditions, blood pressure, cholesterol level, and other patient health information*.The dataset is used to analyze patterns among patients and identify cases that are significantly different from the majority of the population. Since rare diseases may have unusual combinations of symptoms and health characteristics, these uncommon patient records can be useful for anomaly detection.</a:t>
            </a:r>
          </a:p>
          <a:p>
            <a:r>
              <a:rPr lang="en-US" sz="1600" dirty="0">
                <a:latin typeface="Times New Roman" panose="02020603050405020304" pitchFamily="18" charset="0"/>
                <a:cs typeface="Times New Roman" panose="02020603050405020304" pitchFamily="18" charset="0"/>
              </a:rPr>
              <a:t>Before applying the DBSCAN algorithm, the dataset is preprocessed by removing duplicate records, handling missing values, correcting data types, encoding categorical values, checking invalid values, selecting relevant features, and standardizing numerical features . After preprocessing, the relevant patient features are provided to *DBSCAN (Density-Based Spatial Clustering of Applications with Noise). DBSCAN groups patients with similar health patterns into dense clusters and identifies isolated records as noise or outliers. These unusual records can then be examined as **potential rare-disease cases*.</a:t>
            </a:r>
          </a:p>
          <a:p>
            <a:r>
              <a:rPr lang="en-US" sz="1600" dirty="0">
                <a:latin typeface="Times New Roman" panose="02020603050405020304" pitchFamily="18" charset="0"/>
                <a:cs typeface="Times New Roman" panose="02020603050405020304" pitchFamily="18" charset="0"/>
              </a:rPr>
              <a:t>The dataset therefore provides the patient-level information required to demonstrate how unsupervised machine learning can be used to detect unusual healthcare patterns without requiring predefined disease labels for the clustering process.</a:t>
            </a:r>
          </a:p>
          <a:p>
            <a:endParaRPr lang="en-US"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DATASET </a:t>
            </a:r>
            <a:r>
              <a:rPr lang="en-US" sz="1600" dirty="0" err="1">
                <a:latin typeface="Times New Roman" panose="02020603050405020304" pitchFamily="18" charset="0"/>
                <a:cs typeface="Times New Roman" panose="02020603050405020304" pitchFamily="18" charset="0"/>
              </a:rPr>
              <a:t>LINK:https</a:t>
            </a:r>
            <a:r>
              <a:rPr lang="en-US" sz="1600" dirty="0">
                <a:latin typeface="Times New Roman" panose="02020603050405020304" pitchFamily="18" charset="0"/>
                <a:cs typeface="Times New Roman" panose="02020603050405020304" pitchFamily="18" charset="0"/>
              </a:rPr>
              <a:t>://www.kaggle.com/datasets/uom190346a/disease-symptoms-and-patient-profile-dataset</a:t>
            </a:r>
          </a:p>
        </p:txBody>
      </p:sp>
      <p:sp>
        <p:nvSpPr>
          <p:cNvPr id="4" name="Content Placeholder 3">
            <a:extLst>
              <a:ext uri="{FF2B5EF4-FFF2-40B4-BE49-F238E27FC236}">
                <a16:creationId xmlns:a16="http://schemas.microsoft.com/office/drawing/2014/main" id="{EDEB4C44-DF01-CD3D-E79B-58BE1D03FE03}"/>
              </a:ext>
            </a:extLst>
          </p:cNvPr>
          <p:cNvSpPr>
            <a:spLocks noGrp="1"/>
          </p:cNvSpPr>
          <p:nvPr>
            <p:ph sz="half" idx="15"/>
          </p:nvPr>
        </p:nvSpPr>
        <p:spPr>
          <a:xfrm flipV="1">
            <a:off x="12112805" y="6812281"/>
            <a:ext cx="158390" cy="45719"/>
          </a:xfrm>
        </p:spPr>
        <p:txBody>
          <a:bodyPr>
            <a:normAutofit fontScale="25000" lnSpcReduction="20000"/>
          </a:bodyPr>
          <a:lstStyle/>
          <a:p>
            <a:pPr marL="0" indent="0">
              <a:buNone/>
            </a:pPr>
            <a:endParaRPr lang="en-IN" dirty="0"/>
          </a:p>
        </p:txBody>
      </p:sp>
      <p:sp>
        <p:nvSpPr>
          <p:cNvPr id="5" name="Slide Number Placeholder 4">
            <a:extLst>
              <a:ext uri="{FF2B5EF4-FFF2-40B4-BE49-F238E27FC236}">
                <a16:creationId xmlns:a16="http://schemas.microsoft.com/office/drawing/2014/main" id="{8E086311-DBAC-D0C9-8095-D619DB3A291F}"/>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779159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{29E3A647-0F9C-4936-A16B-6800A78DDDB2}TF8a9b5915-b8c7-461e-8cdd-693d48b5e32371f7b7e2_win32-4bf0b9a2ea37</Template>
  <TotalTime>1651</TotalTime>
  <Words>695</Words>
  <Application>Microsoft Office PowerPoint</Application>
  <PresentationFormat>Widescreen</PresentationFormat>
  <Paragraphs>41</Paragraphs>
  <Slides>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Arial Black</vt:lpstr>
      <vt:lpstr>Calibri</vt:lpstr>
      <vt:lpstr>Sabon Next LT</vt:lpstr>
      <vt:lpstr>Times New Roman</vt:lpstr>
      <vt:lpstr>Custom</vt:lpstr>
      <vt:lpstr>Rare-Disease Case Identification Using DBSCAN-Based Anomaly Detection                    Dr. Dyuti BAnerjee             Assistant Professor Ai &amp; DS</vt:lpstr>
      <vt:lpstr>abstract</vt:lpstr>
      <vt:lpstr>INTRODUCTION</vt:lpstr>
      <vt:lpstr>SOFTWARE REQUIREMENTS:   </vt:lpstr>
      <vt:lpstr>HARDWARE REQUIREMENTS</vt:lpstr>
      <vt:lpstr>DATASET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ravi hema manikanta kumar reddy</dc:creator>
  <cp:lastModifiedBy>ravi hema manikanta kumar reddy</cp:lastModifiedBy>
  <cp:revision>5</cp:revision>
  <dcterms:created xsi:type="dcterms:W3CDTF">2026-08-13T16:56:29Z</dcterms:created>
  <dcterms:modified xsi:type="dcterms:W3CDTF">2026-09-11T06:48:16Z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